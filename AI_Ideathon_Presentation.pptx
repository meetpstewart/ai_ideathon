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0515600" cy="9144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STEWART TITLE GUARANTY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8F0"/>
                </a:solidFill>
                <a:latin typeface="Calibri"/>
              </a:rPr>
              <a:t>AI Ideathon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5670"/>
                </a:solidFill>
                <a:latin typeface="Calibri"/>
              </a:rPr>
              <a:t>AI-Governed Enterprise
Knowledge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444444"/>
                </a:solidFill>
                <a:latin typeface="Calibri"/>
              </a:rPr>
              <a:t>Cited  ·  Traceable  ·  Governed  ·  Enterprise-Grade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858768"/>
            <a:ext cx="3959352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0507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Meet P.  |  meet.mvp83@gmail.com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7083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670"/>
                </a:solidFill>
                <a:latin typeface="Calibri"/>
              </a:rPr>
              <a:t>🌐  aiideathon.vercel.app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Enterprise knowledge is locked away — and general AI makes it worse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17320"/>
            <a:ext cx="5577840" cy="4069080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17320"/>
            <a:ext cx="5577840" cy="73152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444444"/>
                </a:solidFill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3055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670"/>
                </a:solidFill>
                <a:latin typeface="Calibri"/>
              </a:rPr>
              <a:t>Problem 1: Knowledge is Inaccessible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060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Hundreds of PDFs &amp; Word files spread across drives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Employees don't know what exists or which version is current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Questions routed to SMEs — answers take days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New staff especially impacted — no institutional knowledge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Productivity lost at scale across the organization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417320"/>
            <a:ext cx="5577840" cy="406908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417320"/>
            <a:ext cx="5577840" cy="73152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444444"/>
                </a:solidFill>
                <a:latin typeface="Calibri"/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055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1B30"/>
                </a:solidFill>
                <a:latin typeface="Calibri"/>
              </a:rPr>
              <a:t>Problem 2: General AI Is Dangerous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ChatGPT answers from internet — not Stewart's documents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Hallucination: confident answers that are factually wrong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Zero traceability — no audit trail, no citations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No governance — violates enterprise compliance standards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Cannot verify or defend an AI-generated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5577840"/>
            <a:ext cx="11795760" cy="7498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6509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"How do we give employees fast, accurate answers — without hallucination and with full traceability?"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RAG-Based AI — Answers from approved documents only, with every claim cited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17320"/>
            <a:ext cx="35204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17320"/>
            <a:ext cx="3520440" cy="73152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1554480"/>
            <a:ext cx="502920" cy="50292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1031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670"/>
                </a:solidFill>
                <a:latin typeface="Calibri"/>
              </a:rPr>
              <a:t>Employee Asks a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606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Types or speaks a natural language question in the web app or Slack. No special syntax or training required.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2057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56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1417320"/>
            <a:ext cx="35204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40" y="1417320"/>
            <a:ext cx="3520440" cy="7315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554480"/>
            <a:ext cx="502920" cy="50292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1031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  <a:latin typeface="Calibri"/>
              </a:rPr>
              <a:t>System Searches Approved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06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Discovery Engine semantically searches our indexed document library. Finds the top 3 most relevant passages — by meaning, not just keywords.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2057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567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2" y="1417320"/>
            <a:ext cx="35204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54112" y="1417320"/>
            <a:ext cx="3520440" cy="73152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91272" y="1554480"/>
            <a:ext cx="502920" cy="5029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2" y="1536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21031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1B30"/>
                </a:solidFill>
                <a:latin typeface="Calibri"/>
              </a:rPr>
              <a:t>AI Generates a Cited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2606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Gemini AI reads only the retrieved passages and generates an answer. Every factual claim is tagged [1] [2] with a source. Confidence rated: FULL / PARTIAL / NO SUPPORT.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3456432"/>
            <a:ext cx="11786616" cy="111556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5478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Result: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931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E8F0"/>
                </a:solidFill>
                <a:latin typeface="Calibri"/>
              </a:rPr>
              <a:t>Every answer is cited  ·  Every source is traceable  ·  Every confidence level is rated  ·  No hallucination by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📎 Numbered Citations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65376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🎯 Confidence Scoring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9584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4448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💬 Multi-Turn 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93792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48656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💡 Follow-Up Suggestions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2864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👍 Feedback Rating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7072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📊 Analytics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86416" y="4709160"/>
            <a:ext cx="1572768" cy="384048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475488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670"/>
                </a:solidFill>
                <a:latin typeface="Calibri"/>
              </a:rPr>
              <a:t>🤖 Slack Bot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E8F0"/>
                </a:solidFill>
                <a:latin typeface="Calibri"/>
              </a:rPr>
              <a:t>aiideathon.vercel.app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3931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1.  Ask a question  →  Observe citations &amp; confidence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7822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2.  Click a follow-up chip  →  See multi-turn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1713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3.  Ask an out-of-scope question  →  See NO SUPPORT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95604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4.  Rate an answer  →  Thumbs up / down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9496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5.  View Analytics dashboard  →  Confidence &amp; satisfaction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8338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6.  Slack  →  /ask command live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  |  Live at aiideathon.vercel.app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What makes this a governed enterprise system — not just a chatbot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374903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3749039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435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44444"/>
                </a:solidFill>
                <a:latin typeface="Calibri"/>
              </a:rP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85623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70"/>
                </a:solidFill>
                <a:latin typeface="Calibri"/>
              </a:rPr>
              <a:t>Cited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194560"/>
            <a:ext cx="347471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Every factual claim tagged [1][2] with numbered citations. Click to expand the exact source document passage.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7" y="1325880"/>
            <a:ext cx="374903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7" y="1325880"/>
            <a:ext cx="3749039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7" y="1435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44444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7" y="185623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70"/>
                </a:solidFill>
                <a:latin typeface="Calibri"/>
              </a:rPr>
              <a:t>Confidence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7" y="2194560"/>
            <a:ext cx="347471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FULL SUPPORT — answer well covered.
PARTIAL SUPPORT — incomplete coverage.
NO SUPPORT — not in approved docs.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6" y="1325880"/>
            <a:ext cx="374903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6" y="1325880"/>
            <a:ext cx="3749039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6" y="1435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44444"/>
                </a:solidFill>
                <a:latin typeface="Calibri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6" y="185623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70"/>
                </a:solidFill>
                <a:latin typeface="Calibri"/>
              </a:rPr>
              <a:t>Multi-Turn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6" y="2194560"/>
            <a:ext cx="347471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Maintains last 3 conversation turns as context. Follow-up questions understood naturally without re-explaining.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3703320"/>
            <a:ext cx="374903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3703320"/>
            <a:ext cx="3749039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44444"/>
                </a:solidFill>
                <a:latin typeface="Calibri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423367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70"/>
                </a:solidFill>
                <a:latin typeface="Calibri"/>
              </a:rPr>
              <a:t>Follow-Up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572000"/>
            <a:ext cx="347471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AI proactively suggests 3 relevant next questions after every answer — keeps exploration flowing.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7" y="3703320"/>
            <a:ext cx="374903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78807" y="3703320"/>
            <a:ext cx="3749039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7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44444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7" y="423367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70"/>
                </a:solidFill>
                <a:latin typeface="Calibri"/>
              </a:rPr>
              <a:t>Session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7" y="4572000"/>
            <a:ext cx="347471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Real-time dashboard: confidence breakdown, satisfaction rate from feedback, most referenced documents.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6" y="3703320"/>
            <a:ext cx="374903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6" y="3703320"/>
            <a:ext cx="3749039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6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44444"/>
                </a:solidFill>
                <a:latin typeface="Calibri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6" y="423367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670"/>
                </a:solidFill>
                <a:latin typeface="Calibri"/>
              </a:rPr>
              <a:t>Slack Bot /ask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6" y="4572000"/>
            <a:ext cx="347471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Slash command works in any channel. Instant ACK in &lt;1 sec. Full cited answer posted ~10 seconds later.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100% Google Cloud Platform — no data leaves your GCP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1178661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98448"/>
            <a:ext cx="64008" cy="804672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71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70"/>
                </a:solidFill>
                <a:latin typeface="Calibri"/>
              </a:rPr>
              <a:t>User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99616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React Web App (Vercel)  +  Slack Bot (/ask command)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0312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194560"/>
            <a:ext cx="11786616" cy="804672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194560"/>
            <a:ext cx="64008" cy="804672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677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70"/>
                </a:solidFill>
                <a:latin typeface="Calibri"/>
              </a:rP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95728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FastAPI Backend  —  Google Cloud Run (serverless, auto-scaling)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992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090672"/>
            <a:ext cx="11786616" cy="804672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090672"/>
            <a:ext cx="64008" cy="80467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638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99"/>
                </a:solidFill>
                <a:latin typeface="Calibri"/>
              </a:rPr>
              <a:t>AI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2918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Google Discovery Engine (Vertex AI)  —  Semantic document search &amp;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95344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3986784"/>
            <a:ext cx="11786616" cy="804672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3986784"/>
            <a:ext cx="64008" cy="804672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0599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1B30"/>
                </a:solidFill>
                <a:latin typeface="Calibri"/>
              </a:rPr>
              <a:t>AI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18795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Vertex AI  —  Gemini 2.5 Flash  —  Grounded answer synthesis + follow-ups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91456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4882896"/>
            <a:ext cx="11786616" cy="804672"/>
          </a:xfrm>
          <a:prstGeom prst="rect">
            <a:avLst/>
          </a:prstGeom>
          <a:solidFill>
            <a:srgbClr val="F5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4882896"/>
            <a:ext cx="64008" cy="804672"/>
          </a:xfrm>
          <a:prstGeom prst="rect">
            <a:avLst/>
          </a:prstGeom>
          <a:solidFill>
            <a:srgbClr val="55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9560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3399"/>
                </a:solidFill>
                <a:latin typeface="Calibri"/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084064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Google Cloud Storage  —  Approved PDFs &amp; DOCX  |  Embeddings: text-embedding-004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5650992"/>
            <a:ext cx="11786616" cy="658368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74243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GCP Services:  Cloud Run   ·   Vertex AI Gemini 2.5 Flash   ·   Discovery Engine   ·   Cloud Storage   ·   Cloud Build   ·   Artifact Registry   ·   Cloud IAM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Answers Are Generated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The RAG Pipeline —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2148840" cy="3246120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2148840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44444"/>
                </a:solidFill>
                <a:latin typeface="Calibri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670"/>
                </a:solidFill>
                <a:latin typeface="Calibri"/>
              </a:rPr>
              <a:t>User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46888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  <a:latin typeface="Calibri"/>
              </a:rPr>
              <a:t>Employee types or speaks a natural language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567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3744" y="1325880"/>
            <a:ext cx="21488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23744" y="1325880"/>
            <a:ext cx="2148840" cy="6400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44444"/>
                </a:solidFill>
                <a:latin typeface="Calibri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670"/>
                </a:solidFill>
                <a:latin typeface="Calibri"/>
              </a:rPr>
              <a:t>Semantic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46888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  <a:latin typeface="Calibri"/>
              </a:rPr>
              <a:t>Discovery Engine searches indexed approved documents — finds top 3 relevant passages by 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567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325880"/>
            <a:ext cx="2148840" cy="3246120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325880"/>
            <a:ext cx="2148840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44444"/>
                </a:solidFill>
                <a:latin typeface="Calibr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670"/>
                </a:solidFill>
                <a:latin typeface="Calibri"/>
              </a:rPr>
              <a:t>Context Block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6888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  <a:latin typeface="Calibri"/>
              </a:rPr>
              <a:t>[1] Source: Cloud Infrastructure — 'The Quarter Rack has 1440 GB RAM...'
[2] Source: App Service Guide — '...'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567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8896" y="1325880"/>
            <a:ext cx="21488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68896" y="1325880"/>
            <a:ext cx="2148840" cy="6400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44444"/>
                </a:solidFill>
                <a:latin typeface="Calibri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670"/>
                </a:solidFill>
                <a:latin typeface="Calibri"/>
              </a:rPr>
              <a:t>Gemini Prompted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246888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  <a:latin typeface="Calibri"/>
              </a:rPr>
              <a:t>"Answer ONLY using the numbered sources below. Use citation format [1]. Do not use outside knowledge."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567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91472" y="1325880"/>
            <a:ext cx="2148840" cy="3246120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91472" y="1325880"/>
            <a:ext cx="2148840" cy="64008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4432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44444"/>
                </a:solidFill>
                <a:latin typeface="Calibri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670"/>
                </a:solidFill>
                <a:latin typeface="Calibri"/>
              </a:rPr>
              <a:t>Answer +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246888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  <a:latin typeface="Calibri"/>
              </a:rPr>
              <a:t>Cited answer generated · Citations validated · FULL / PARTIAL / NO SUPPORT calculated · Follow-ups suggested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4663440"/>
            <a:ext cx="11786616" cy="1115568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Example Response: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074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E8F0"/>
                </a:solidFill>
                <a:latin typeface="Calibri"/>
              </a:rPr>
              <a:t>{ answer: "The Quarter Rack has 1440 GB RAM [1].",  confidence: "FULL_SUPPORT",  sources: [{id:1, title:"Cloud Infrastructure", snippet:"..."}],  follow_up_questions: ["What about the Half Rack?", ...] 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vs. Microsoft 365 Copilot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An honest comparison — they solve similar problems, but not in the same 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48872" cy="38404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4F00"/>
                </a:solidFill>
                <a:latin typeface="Calibri"/>
              </a:rPr>
              <a:t>⚠️  M365 Copilot Agent now answers from SharePoint docs and says 'not found' when missing — but still shows: "AI-generated content may be incorrect" on every response.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11064238" cy="420624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83080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M365 Copilot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783080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Our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39696"/>
            <a:ext cx="11064238" cy="420624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0370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Answers from internal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03704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7A50"/>
                </a:solidFill>
                <a:latin typeface="Calibri"/>
              </a:rPr>
              <a:t>✓  SharePoint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203704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GCP-approved documents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0320"/>
            <a:ext cx="1106423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2432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Says 'not found' when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24328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7A50"/>
                </a:solidFill>
                <a:latin typeface="Calibri"/>
              </a:rPr>
              <a:t>✓ 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624328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Yes — with NO SUPPORT badge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80944"/>
            <a:ext cx="11064238" cy="420624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449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Accuracy disclaimer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044952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1B30"/>
                </a:solidFill>
                <a:latin typeface="Calibri"/>
              </a:rPr>
              <a:t>✗  'May be incorrect' on every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3044952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Explicit confidence score per answer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01568"/>
            <a:ext cx="1106423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6557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Citation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465576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1B30"/>
                </a:solidFill>
                <a:latin typeface="Calibri"/>
              </a:rPr>
              <a:t>✗  Document-level chips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3465576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Sentence-level numbered [1][2]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22192"/>
            <a:ext cx="11064238" cy="420624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862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Confidence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886200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1B30"/>
                </a:solidFill>
                <a:latin typeface="Calibri"/>
              </a:rPr>
              <a:t>✗ 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3886200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FULL / PARTIAL / NO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242816"/>
            <a:ext cx="1106423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3068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Session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306824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1B30"/>
                </a:solidFill>
                <a:latin typeface="Calibri"/>
              </a:rPr>
              <a:t>✗  None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4306824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Built-in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11064238" cy="420624"/>
          </a:xfrm>
          <a:prstGeom prst="rect">
            <a:avLst/>
          </a:prstGeom>
          <a:solidFill>
            <a:srgbClr val="E6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72744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Access channels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4727448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1B30"/>
                </a:solidFill>
                <a:latin typeface="Calibri"/>
              </a:rPr>
              <a:t>✗  Teams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59" y="4727448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Web app + Slack — no license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84064"/>
            <a:ext cx="1106423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14807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Cost (100 users/year)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148072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1B30"/>
                </a:solidFill>
                <a:latin typeface="Calibri"/>
              </a:rPr>
              <a:t>✗  ~$36,000 (Copilot license)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59" y="5148072"/>
            <a:ext cx="38861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5670"/>
                </a:solidFill>
                <a:latin typeface="Calibri"/>
              </a:rPr>
              <a:t>✓  ~$200 (GCP pay-per-use)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486400"/>
            <a:ext cx="11548872" cy="65836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5595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"Microsoft validates the problem. Our system solves it better — with confidence scoring, sentence-level citations, and no disclaimer saying the answer might be wrong."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Value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0"/>
                </a:solidFill>
                <a:latin typeface="Calibri"/>
              </a:rPr>
              <a:t>A production system solving a real Stewart problem — delivered in the Ideathon timeframe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651760" cy="201168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&lt; 10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8F0"/>
                </a:solidFill>
                <a:latin typeface="Calibri"/>
              </a:rPr>
              <a:t>From question to
cited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651760" cy="201168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17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8F0"/>
                </a:solidFill>
                <a:latin typeface="Calibri"/>
              </a:rPr>
              <a:t>Hallucination risk
by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2651760" cy="201168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417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8F0"/>
                </a:solidFill>
                <a:latin typeface="Calibri"/>
              </a:rPr>
              <a:t>Answers traceable
to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325880"/>
            <a:ext cx="2651760" cy="2011680"/>
          </a:xfrm>
          <a:prstGeom prst="rect">
            <a:avLst/>
          </a:prstGeom>
          <a:solidFill>
            <a:srgbClr val="00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417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~$200/year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8F0"/>
                </a:solidFill>
                <a:latin typeface="Calibri"/>
              </a:rPr>
              <a:t>vs $36,000/year
for M365 Copilot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3520440"/>
            <a:ext cx="283464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3520440"/>
            <a:ext cx="2834640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36301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70"/>
                </a:solidFill>
                <a:latin typeface="Calibri"/>
              </a:rPr>
              <a:t>🏢  Enterprise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" y="4050792"/>
            <a:ext cx="2633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4444"/>
                </a:solidFill>
                <a:latin typeface="Calibri"/>
              </a:rPr>
              <a:t>Deployed on GCP. No data leaves your environment. IAM-controlled access. Compliance-friendly by architecture.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3520440"/>
            <a:ext cx="283464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18688" y="3520440"/>
            <a:ext cx="2834640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6" y="36301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70"/>
                </a:solidFill>
                <a:latin typeface="Calibri"/>
              </a:rPr>
              <a:t>📈  Continuous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4050792"/>
            <a:ext cx="2633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4444"/>
                </a:solidFill>
                <a:latin typeface="Calibri"/>
              </a:rPr>
              <a:t>Analytics dashboard shows which questions fail. Knowledge managers see exactly which document gaps to fill.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3520440"/>
            <a:ext cx="283464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3520440"/>
            <a:ext cx="2834640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6301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70"/>
                </a:solidFill>
                <a:latin typeface="Calibri"/>
              </a:rPr>
              <a:t>🔌  Multi-Channel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4050792"/>
            <a:ext cx="2633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4444"/>
                </a:solidFill>
                <a:latin typeface="Calibri"/>
              </a:rPr>
              <a:t>Web app for desktop users. Slack bot for teams. Same governed engine behind both — consistent answers everywhere.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53728" y="3520440"/>
            <a:ext cx="2834640" cy="2240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53728" y="3520440"/>
            <a:ext cx="2834640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36301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670"/>
                </a:solidFill>
                <a:latin typeface="Calibri"/>
              </a:rPr>
              <a:t>🚀  Expandable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4050792"/>
            <a:ext cx="2633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4444"/>
                </a:solidFill>
                <a:latin typeface="Calibri"/>
              </a:rPr>
              <a:t>Add any PDF, DOCX, or text file. Create department-specific data stores: HR, Legal, Compliance, Infrastructure.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D8"/>
                </a:solidFill>
                <a:latin typeface="Calibri"/>
              </a:rPr>
              <a:t>AI Ideathon 2026  |  Stewart Title Guaranty Company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91640"/>
            <a:ext cx="5788152" cy="457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Production-deployed RAG system — live at aiideathon.vercel.app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9572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Every answer cited, confidence-rated, and traceable to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71216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Built entirely on Google Cloud Platform — no data leaves GCP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46704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Web app + Slack bot — accessible where employees already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22192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Analytics dashboard — continuous improvement 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✓  Governance first — only approved documents can ever appear in answers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92040"/>
            <a:ext cx="10725912" cy="54864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047488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E8F0"/>
                </a:solidFill>
                <a:latin typeface="Calibri"/>
              </a:rPr>
              <a:t>"The question isn't whether AI can help employees find answers faster.
The question is whether we can do it safely, traceably, and governed.
We can. And we did."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725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8"/>
                </a:solidFill>
                <a:latin typeface="Calibri"/>
              </a:rPr>
              <a:t>🌐  aiideathon.vercel.app   |   Meet P.   |   AI Ideathon 2026 — Stewart Title Guaranty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